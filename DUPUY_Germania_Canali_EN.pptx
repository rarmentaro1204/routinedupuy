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329184"/>
            <a:ext cx="1600200" cy="36110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PUY_DARK">
    <p:bg>
      <p:bgPr>
        <a:solidFill>
          <a:srgbClr val="15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bix.com/it" TargetMode="External"/><Relationship Id="rId4" Type="http://schemas.openxmlformats.org/officeDocument/2006/relationships/hyperlink" Target="https://www.rubix.com/it" TargetMode="External"/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ardtest.hu" TargetMode="External"/><Relationship Id="rId4" Type="http://schemas.openxmlformats.org/officeDocument/2006/relationships/hyperlink" Target="https://hardtest.hu" TargetMode="External"/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DISTRIBUTION NETWORK · GERMANY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Distribution channel development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Best practices, commercial results and a method for mapping distributors</a:t>
            </a:r>
            <a:endParaRPr lang="en-US" sz="1800" dirty="0"/>
          </a:p>
        </p:txBody>
      </p:sp>
      <p:pic>
        <p:nvPicPr>
          <p:cNvPr id="5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108960" cy="7015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channels, one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Dealer macchine C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575304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CNC machine dealers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MTC Flextek · FI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88536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Dealer olio e lubrorefrigerant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89888"/>
            <a:ext cx="3575304" cy="1143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5696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25696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065776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Cutting oil &amp; coolant dealers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65776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Jemtech · UK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19872" y="1371600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Impianti di sabbiat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89888"/>
            <a:ext cx="3575304" cy="1143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57032" y="2651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5703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897112" y="25968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Blasting equipment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Blasquem · PT  /  AIRBLAST · UK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Utensilerie e gruppi d'acqui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65576"/>
            <a:ext cx="3575304" cy="1143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4360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436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 shops &amp; buying groups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234440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Rubix · CDU · Cagelli · IT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88536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Impiantisti e integrato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3465576"/>
            <a:ext cx="3575304" cy="11430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425696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425696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5065776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Installers &amp; system integrators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065776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Hardtest · HU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19872" y="3447288"/>
            <a:ext cx="3611880" cy="1920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Dealer di marchi concorrent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465576"/>
            <a:ext cx="3575304" cy="11430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257032" y="4727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57032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897112" y="4672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Competitor-brand dealers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897112" y="5001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Mapping in Germany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8580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42" name="Text 34"/>
          <p:cNvSpPr txBox="1"/>
          <p:nvPr/>
        </p:nvSpPr>
        <p:spPr>
          <a:xfrm>
            <a:off x="118872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ideal distributor, with real examples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443484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44" name="Text 36"/>
          <p:cNvSpPr txBox="1"/>
          <p:nvPr/>
        </p:nvSpPr>
        <p:spPr>
          <a:xfrm>
            <a:off x="493776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MUCH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revenue it can generate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8183880" y="5577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46" name="Text 38"/>
          <p:cNvSpPr txBox="1"/>
          <p:nvPr/>
        </p:nvSpPr>
        <p:spPr>
          <a:xfrm>
            <a:off x="8686800" y="5577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WHERE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find them: targeted mapping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CNC machine dealers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MTC Flextek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Finland · mtcflextek.fi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20–25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OILVAC 130 PUMP units /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Starts with OILVAC 130 PUMP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434840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599432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599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Then all other DUPUY ranges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0" descr="Sito MTC Flextek: filtrazione aria e liquid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8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20640" y="45902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BRANDS REPRESENTED</a:t>
            </a:r>
            <a:endParaRPr lang="en-US" sz="1000" dirty="0"/>
          </a:p>
        </p:txBody>
      </p:sp>
      <p:pic>
        <p:nvPicPr>
          <p:cNvPr id="20" name="Image 1" descr="oku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4869591"/>
            <a:ext cx="1069848" cy="246065"/>
          </a:xfrm>
          <a:prstGeom prst="rect">
            <a:avLst/>
          </a:prstGeom>
        </p:spPr>
      </p:pic>
      <p:pic>
        <p:nvPicPr>
          <p:cNvPr id="21" name="Image 2" descr="fanu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4904362"/>
            <a:ext cx="1069848" cy="176525"/>
          </a:xfrm>
          <a:prstGeom prst="rect">
            <a:avLst/>
          </a:prstGeom>
        </p:spPr>
      </p:pic>
      <p:pic>
        <p:nvPicPr>
          <p:cNvPr id="22" name="Image 3" descr="soralu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907036"/>
            <a:ext cx="1069848" cy="171176"/>
          </a:xfrm>
          <a:prstGeom prst="rect">
            <a:avLst/>
          </a:prstGeom>
        </p:spPr>
      </p:pic>
      <p:pic>
        <p:nvPicPr>
          <p:cNvPr id="23" name="Image 4" descr="ibarm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4899012"/>
            <a:ext cx="1069848" cy="187223"/>
          </a:xfrm>
          <a:prstGeom prst="rect">
            <a:avLst/>
          </a:prstGeom>
        </p:spPr>
      </p:pic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Dealer database of CNC manufacturers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DMG MORI · Mazak · TRUMPF · EMCO · Hermle · CHIRON · GROB · INDEX · GF Machining Solutions · Mikron · Fehlmann  (manufacturer list: EMO Hannover exhibitor catalogue)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Cutting oil &amp; coolant dealers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Jemtech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United Kingdom · jemtech.co.uk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PRIVATE LABEL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DUPUY machines under the Jemtech brand, in blue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03904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First machine for the service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4169664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34256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34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Recurring sales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4700016"/>
            <a:ext cx="182880" cy="146304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64608"/>
            <a:ext cx="3840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64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Other DUPUY ranges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Sito Jemtech con aspiratore DUPUY private lab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21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1" descr="Linee prodotto Jemte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636008"/>
            <a:ext cx="3456432" cy="7132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641080" y="45902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Whoever sells oil can sell the vacuum too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Partners: Blaser Swisslube · HFiltration</a:t>
            </a:r>
            <a:endParaRPr lang="en-US" sz="1300" dirty="0"/>
          </a:p>
        </p:txBody>
      </p:sp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Distributors of coolant manufacturers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Blaser Swisslube · Castrol · Motul · TotalEnergies · FUCHS · Quaker Houghton · Oemeta · Rhenus Lub · Zeller+Gmelin · Klüber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Blasting equipment: OEMs and dealers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Blasquem · AIRBLAST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Portugal · United Kingdom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6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OEMs already served: OMSG, COGEIM, Turbotecnica, Norblast, STEM, Protech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673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+1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German OEM already active (2-motor heads)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90288"/>
            <a:ext cx="38404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59028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M50 Cogeim · MHD AIR 30 · SILOFILTER: solutions not in the DELFIN range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Airblast: aspiratore abrasivi AbV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4425696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555480" y="1371600"/>
            <a:ext cx="2176272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M50 Coge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1417320"/>
            <a:ext cx="1737360" cy="2606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555480" y="4069080"/>
            <a:ext cx="2176272" cy="411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55480" y="40690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M50 Cogeim</a:t>
            </a:r>
            <a:endParaRPr lang="en-US" sz="1400" dirty="0"/>
          </a:p>
        </p:txBody>
      </p:sp>
      <p:sp>
        <p:nvSpPr>
          <p:cNvPr id="21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mage 2" descr="AIRBLA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722524"/>
            <a:ext cx="1645920" cy="54019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49440" y="4590288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airblast.co.uk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portable machines, abrasive recovery, hire</a:t>
            </a:r>
            <a:endParaRPr lang="en-US" sz="1200" dirty="0"/>
          </a:p>
        </p:txBody>
      </p:sp>
      <p:sp>
        <p:nvSpPr>
          <p:cNvPr id="24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German OEMs + distributors of machines and consumables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Sapi · Clemco · AGTOS · ROSLER · SLF  …  then grit and equipment distributors, to approach directly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shops &amp; buying groups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Italian market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Dense regional coverage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~100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tool shops served today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€10,000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average revenue / year per customer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≈ €1M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/ year from the channel (estimate: 100 × €10,000)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Cagelli con aspiratori olio e trucio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937760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Image 1" descr="Rubix">
            <a:hlinkClick r:id="rId3" tooltip="Rubix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2" y="4636008"/>
            <a:ext cx="1261872" cy="4114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983480" y="504748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rubix.com/it  ·  </a:t>
            </a:r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IT · FR · 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242048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Image 2" descr="CD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913" y="4636008"/>
            <a:ext cx="1077686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5200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~€20,000 average per customer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546336" y="4590288"/>
            <a:ext cx="2185416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3" descr="Cagell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1824" y="4636008"/>
            <a:ext cx="123444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19488" y="502920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OILVAC 130 in private label</a:t>
            </a:r>
            <a:endParaRPr lang="en-US" sz="1100" dirty="0"/>
          </a:p>
        </p:txBody>
      </p:sp>
      <p:sp>
        <p:nvSpPr>
          <p:cNvPr id="26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Buying groups, tool-shop chains and local distributors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Progressive regional coverage: buying groups aggregate many shops and multiply growth. CDU = Consorzio Distribuzione Utensili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Dust-extraction installers and integrators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Hardtest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Hungary · hardtest.hu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30–40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dust collectors purchased / year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€100,000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revenue year 1 (figure to be rechecked)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€150,000+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901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revenue year 2 (figure to be rechecked)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6793992" cy="3108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Sito Hardtest: Dupuy tra i marchi distribui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6739128" cy="3054096"/>
          </a:xfrm>
          <a:prstGeom prst="rect">
            <a:avLst/>
          </a:prstGeom>
        </p:spPr>
      </p:pic>
      <p:sp>
        <p:nvSpPr>
          <p:cNvPr id="17" name="Riga loghi"/>
          <p:cNvSpPr/>
          <p:nvPr/>
        </p:nvSpPr>
        <p:spPr>
          <a:xfrm>
            <a:off x="4937760" y="4590288"/>
            <a:ext cx="679399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45902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BUYS THE DUST COLLECTOR FROM US, PIPING LOCALLY, INSTALLS</a:t>
            </a:r>
            <a:endParaRPr lang="en-US" sz="1100" dirty="0"/>
          </a:p>
        </p:txBody>
      </p:sp>
      <p:pic>
        <p:nvPicPr>
          <p:cNvPr id="19" name="Image 1" descr="Hardtest">
            <a:hlinkClick r:id="rId3" tooltip="Hardtes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26864"/>
            <a:ext cx="1645920" cy="411480"/>
          </a:xfrm>
          <a:prstGeom prst="rect">
            <a:avLst/>
          </a:prstGeom>
        </p:spPr>
      </p:pic>
      <p:sp>
        <p:nvSpPr>
          <p:cNvPr id="20" name="Text 16">
            <a:hlinkClick r:id="rId4" tooltip=""/>
          </p:cNvPr>
          <p:cNvSpPr txBox="1"/>
          <p:nvPr/>
        </p:nvSpPr>
        <p:spPr>
          <a:xfrm>
            <a:off x="8412480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 hardtest.hu</a:t>
            </a:r>
            <a:endParaRPr lang="en-US" sz="1100" dirty="0"/>
          </a:p>
        </p:txBody>
      </p:sp>
      <p:sp>
        <p:nvSpPr>
          <p:cNvPr id="21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Installers and small independent system builders, city by city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Donaldson · Nederman · Fumex · TEKA · BOFA · ULT · ESTA · Coral · TAMA Air Nova  →  not only official dealers: small installers are often more interesting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CHANNEL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Competitor-brand dealers</a:t>
            </a:r>
            <a:endParaRPr lang="en-US" sz="2800" dirty="0"/>
          </a:p>
        </p:txBody>
      </p:sp>
      <p:sp>
        <p:nvSpPr>
          <p:cNvPr id="4" name="Pannello risultati"/>
          <p:cNvSpPr/>
          <p:nvPr/>
        </p:nvSpPr>
        <p:spPr>
          <a:xfrm>
            <a:off x="457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Dealer mapping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We will support you on this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competitor brands to 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867912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867912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Our dealers already sell competitors too: Cagelli → Filtermist, Absolent · Hardtest → Ruwac, Depureco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329184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Cagelli → Filtermist · Absol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399032"/>
            <a:ext cx="3236976" cy="26517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37760" y="4050792"/>
            <a:ext cx="3291840" cy="4297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405079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Cagelli → Filtermist · Absolent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39912" y="1371600"/>
            <a:ext cx="3291840" cy="3108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Hardtest → Depure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1399032"/>
            <a:ext cx="3236976" cy="2651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439912" y="4050792"/>
            <a:ext cx="3291840" cy="42976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39912" y="405079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Hardtest → Depureco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37760" y="4590288"/>
            <a:ext cx="21031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29200" y="46085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OIL MIST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Filtermist · 3nine · Absolent · Losma · LTA Lufttechnik · AR Filtrazioni · Keller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78040" y="4590288"/>
            <a:ext cx="260604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269480" y="4608576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DUST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Donaldson · Nederman · ESTA · TEKA · ULT · BOFA · Fumex · Coral · ULMATEC · Kemper · TBH · Plymovent · Camfil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921240" y="4590288"/>
            <a:ext cx="1810512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12680" y="4608576"/>
            <a:ext cx="1627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INDUSTRIAL VACUUMS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Ruwac · Nilfisk · Kärcher Industrial · Depureco · RGS · Sibilia · Wieland</a:t>
            </a:r>
            <a:endParaRPr lang="en-US" sz="1000" dirty="0"/>
          </a:p>
        </p:txBody>
      </p:sp>
      <p:sp>
        <p:nvSpPr>
          <p:cNvPr id="27" name="Banda Germania"/>
          <p:cNvSpPr/>
          <p:nvPr/>
        </p:nvSpPr>
        <p:spPr>
          <a:xfrm>
            <a:off x="457200" y="5577840"/>
            <a:ext cx="11274552" cy="804672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85800" y="5669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WHERE TO FIND THEM IN GERMANY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" y="5870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Database of German dealers of competitors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480560" y="55778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Where are the German dealers of Filtermist, 3nine, Absolent, Donaldson, Nederman, Ruwac, Nilfisk…? Identify the most interesting and offer the DUPUY range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UP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5365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We are not inventing new channels.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We replicate in Germany what already works.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Who is the ideal distributor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The ideal partner profile, with real examples already active</a:t>
            </a:r>
            <a:endParaRPr lang="en-US" sz="1200" dirty="0"/>
          </a:p>
        </p:txBody>
      </p:sp>
      <p:sp>
        <p:nvSpPr>
          <p:cNvPr id="8" name="Spazio esempi"/>
          <p:cNvSpPr/>
          <p:nvPr/>
        </p:nvSpPr>
        <p:spPr>
          <a:xfrm>
            <a:off x="777240" y="4572000"/>
            <a:ext cx="306324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68680" y="4617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EXAMPLES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How much revenue it can generate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Results measured on partners already active in other markets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€10,000 – 150,000+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3017520"/>
            <a:ext cx="3520440" cy="2788920"/>
          </a:xfrm>
          <a:prstGeom prst="roundRect">
            <a:avLst>
              <a:gd name="adj" fmla="val 3934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108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How to find them in Germany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Through targeted mapping of potential partners, channel by channel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 channels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step: a partner database for each channel, built together.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DUPUY · Via Enrico de Nicola 27 · 10036 Settimo Torinese (TO) · Tel. +39 011 8975444 · info@dupuy.it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puy">
  <a:themeElements>
    <a:clrScheme name="Dupuy">
      <a:dk1>
        <a:srgbClr val="152239"/>
      </a:dk1>
      <a:lt1>
        <a:srgbClr val="FFFFFF"/>
      </a:lt1>
      <a:dk2>
        <a:srgbClr val="152239"/>
      </a:dk2>
      <a:lt2>
        <a:srgbClr val="F3F5F8"/>
      </a:lt2>
      <a:accent1>
        <a:srgbClr val="E63329"/>
      </a:accent1>
      <a:accent2>
        <a:srgbClr val="152239"/>
      </a:accent2>
      <a:accent3>
        <a:srgbClr val="5B6B85"/>
      </a:accent3>
      <a:accent4>
        <a:srgbClr val="8A97AB"/>
      </a:accent4>
      <a:accent5>
        <a:srgbClr val="D5DBE5"/>
      </a:accent5>
      <a:accent6>
        <a:srgbClr val="1A1A1A"/>
      </a:accent6>
      <a:hlink>
        <a:srgbClr val="E63329"/>
      </a:hlink>
      <a:folHlink>
        <a:srgbClr val="5B6B85"/>
      </a:folHlink>
    </a:clrScheme>
    <a:fontScheme name="Dupuy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DUPUY – Replicare in Germania i canali che funzionano</dc:title>
  <dc:subject>PptxGenJS Presentation</dc:subject>
  <dc:creator>DUPUY</dc:creator>
  <cp:lastModifiedBy>DUPUY</cp:lastModifiedBy>
  <cp:revision>1</cp:revision>
  <dcterms:created xsi:type="dcterms:W3CDTF">2026-10-30T09:16:44Z</dcterms:created>
  <dcterms:modified xsi:type="dcterms:W3CDTF">2026-10-30T09:16:44Z</dcterms:modified>
</cp:coreProperties>
</file>