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PUY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/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2" y="329184"/>
            <a:ext cx="1600200" cy="36110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PUY_DARK">
    <p:bg>
      <p:bgPr>
        <a:solidFill>
          <a:srgbClr val="15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ubix.com/it" TargetMode="External"/><Relationship Id="rId4" Type="http://schemas.openxmlformats.org/officeDocument/2006/relationships/hyperlink" Target="https://www.rubix.com/it" TargetMode="External"/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5" Type="http://schemas.openxmlformats.org/officeDocument/2006/relationships/image" Target="../media/image-6-3.png"/><Relationship Id="rId6" Type="http://schemas.openxmlformats.org/officeDocument/2006/relationships/image" Target="../media/image-6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ardtest.hu" TargetMode="External"/><Relationship Id="rId4" Type="http://schemas.openxmlformats.org/officeDocument/2006/relationships/hyperlink" Target="https://hardtest.hu" TargetMode="External"/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RETE DISTRIBUTIVA · GERMANIA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Sviluppo canali distributivi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Best practice, risultati commerciali e metodo di mappatura dei distributori</a:t>
            </a:r>
            <a:endParaRPr lang="en-US" sz="1800" dirty="0"/>
          </a:p>
        </p:txBody>
      </p:sp>
      <p:pic>
        <p:nvPicPr>
          <p:cNvPr id="5" name="Image 0" descr="DUPU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108960" cy="7015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PANORAMICA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Sei canali, un solo metodo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Dealer macchine CN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389888"/>
            <a:ext cx="3575304" cy="1143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Dealer macchine CNC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MTC Flextek · FI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88536" y="1371600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Dealer olio e lubrorefrigerant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389888"/>
            <a:ext cx="3575304" cy="1143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25696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425696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5065776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Dealer olio e lubrorefrigeranti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065776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Jemtech · UK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19872" y="1371600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2" descr="Impianti di sabbiatu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89888"/>
            <a:ext cx="3575304" cy="11430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57032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897112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Impianti di sabbiatura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Blasquem · PT  /  AIRBLAST · UK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3447288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3" descr="Utensilerie e gruppi d'acquis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465576"/>
            <a:ext cx="3575304" cy="11430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94360" y="4727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94360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34440" y="46725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Utensilerie e gruppi d'acquisto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234440" y="5001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Rubix · CDU · Cagelli · IT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288536" y="3447288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9" name="Image 4" descr="Impiantisti e integrator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824" y="3465576"/>
            <a:ext cx="3575304" cy="11430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425696" y="4727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425696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5065776" y="46725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Impiantisti e integratori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5065776" y="5001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Hardtest · HU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19872" y="3447288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5" descr="Dealer di marchi concorrent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465576"/>
            <a:ext cx="3575304" cy="1143000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8257032" y="4727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257032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8897112" y="46725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Dealer di marchi concorrenti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897112" y="5001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Mappatura in Germania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685800" y="55778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42" name="Text 34"/>
          <p:cNvSpPr txBox="1"/>
          <p:nvPr/>
        </p:nvSpPr>
        <p:spPr>
          <a:xfrm>
            <a:off x="1188720" y="557784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CHI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il distributore ideale, con esempi reali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4434840" y="55778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</a:t>
            </a:r>
            <a:endParaRPr lang="en-US" sz="3600" dirty="0"/>
          </a:p>
        </p:txBody>
      </p:sp>
      <p:sp>
        <p:nvSpPr>
          <p:cNvPr id="44" name="Text 36"/>
          <p:cNvSpPr txBox="1"/>
          <p:nvPr/>
        </p:nvSpPr>
        <p:spPr>
          <a:xfrm>
            <a:off x="4937760" y="557784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QUANTO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fatturato può generare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183880" y="55778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</a:t>
            </a:r>
            <a:endParaRPr lang="en-US" sz="3600" dirty="0"/>
          </a:p>
        </p:txBody>
      </p:sp>
      <p:sp>
        <p:nvSpPr>
          <p:cNvPr id="46" name="Text 38"/>
          <p:cNvSpPr txBox="1"/>
          <p:nvPr/>
        </p:nvSpPr>
        <p:spPr>
          <a:xfrm>
            <a:off x="8686800" y="557784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DOVE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trovarlo in Germania: mappatura mirata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Dealer di macchine CNC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MTC Flextek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Finlandia · mtcflextek.fi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20–25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20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unità/anno di OILVAC 130 PUMP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Parte da OILVAC 130 PUMP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4434840"/>
            <a:ext cx="182880" cy="146304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599432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5994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 tutte le altre gamme DUPUY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0" descr="Sito MTC Flextek: filtrazione aria e liquid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8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590288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BRAND RAPPRESENTATI</a:t>
            </a:r>
            <a:endParaRPr lang="en-US" sz="1000" dirty="0"/>
          </a:p>
        </p:txBody>
      </p:sp>
      <p:pic>
        <p:nvPicPr>
          <p:cNvPr id="20" name="Image 1" descr="oku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4869591"/>
            <a:ext cx="1069848" cy="246065"/>
          </a:xfrm>
          <a:prstGeom prst="rect">
            <a:avLst/>
          </a:prstGeom>
        </p:spPr>
      </p:pic>
      <p:pic>
        <p:nvPicPr>
          <p:cNvPr id="21" name="Image 2" descr="fanu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2" y="4904362"/>
            <a:ext cx="1069848" cy="176525"/>
          </a:xfrm>
          <a:prstGeom prst="rect">
            <a:avLst/>
          </a:prstGeom>
        </p:spPr>
      </p:pic>
      <p:pic>
        <p:nvPicPr>
          <p:cNvPr id="22" name="Image 3" descr="soralu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4907036"/>
            <a:ext cx="1069848" cy="171176"/>
          </a:xfrm>
          <a:prstGeom prst="rect">
            <a:avLst/>
          </a:prstGeom>
        </p:spPr>
      </p:pic>
      <p:pic>
        <p:nvPicPr>
          <p:cNvPr id="23" name="Image 4" descr="ibarmi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2448" y="4899012"/>
            <a:ext cx="1069848" cy="187223"/>
          </a:xfrm>
          <a:prstGeom prst="rect">
            <a:avLst/>
          </a:prstGeom>
        </p:spPr>
      </p:pic>
      <p:sp>
        <p:nvSpPr>
          <p:cNvPr id="24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Database dealer dei costruttori CNC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DMG MORI · Mazak · TRUMPF · EMCO · Hermle · CHIRON · GROB · INDEX · GF Machining Solutions · Mikron · Fehlmann  (lista costruttori: catalogo espositori EMO Hannover)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Dealer di olio e lubrorefrigeranti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Jemtech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Regno Unito · jemtech.co.uk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PRIVATE LABEL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Macchine DUPUY a marchio Jemtech, in blu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803904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039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Prima macchina per il service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4169664"/>
            <a:ext cx="182880" cy="146304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334256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342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Vendite ricorrenti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4700016"/>
            <a:ext cx="182880" cy="146304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4864608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8646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Altre gamme DUPUY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0" descr="Sito Jemtech con aspiratore DUPUY private 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21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Image 1" descr="Linee prodotto Jemte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636008"/>
            <a:ext cx="3456432" cy="71323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641080" y="4590288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Chi vende olio vende anche l'aspiratore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Partner Blaser Swisslube · HFiltration</a:t>
            </a:r>
            <a:endParaRPr lang="en-US" sz="1300" dirty="0"/>
          </a:p>
        </p:txBody>
      </p:sp>
      <p:sp>
        <p:nvSpPr>
          <p:cNvPr id="24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Distributori dei produttori di lubrorefrigeranti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Blaser Swisslube · Castrol · Motul · TotalEnergies · FUCHS · Quaker Houghton · Oemeta · Rhenus Lub · Zeller+Gmelin · Klüber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Impianti di sabbiatura: OEM e dealer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Blasquem · AIRBLAST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Portogallo · Regno Unito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6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5526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OEM già serviti: OMSG, COGEIM, Turbotecnica, Norblast, STEM, Protech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67328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+1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279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OEM tedesco già attivo (testate 2 motori)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590288"/>
            <a:ext cx="384048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590288"/>
            <a:ext cx="3621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M50 Cogeim · MHD AIR 30 · SILOFILTER: soluzioni assenti nella gamma DELFIN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4480560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Sito Airblast: aspiratore abrasivi AbVa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4425696" cy="30540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555480" y="1371600"/>
            <a:ext cx="2176272" cy="3108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M50 Cogei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936" y="1417320"/>
            <a:ext cx="1737360" cy="26060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555480" y="4069080"/>
            <a:ext cx="2176272" cy="4114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555480" y="406908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M50 Cogeim</a:t>
            </a:r>
            <a:endParaRPr lang="en-US" sz="1400" dirty="0"/>
          </a:p>
        </p:txBody>
      </p:sp>
      <p:sp>
        <p:nvSpPr>
          <p:cNvPr id="21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Image 2" descr="AIRBLA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722524"/>
            <a:ext cx="1645920" cy="54019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949440" y="4590288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airblast.co.uk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macchine portatili, recupero abrasivo, noleggio</a:t>
            </a:r>
            <a:endParaRPr lang="en-US" sz="1200" dirty="0"/>
          </a:p>
        </p:txBody>
      </p:sp>
      <p:sp>
        <p:nvSpPr>
          <p:cNvPr id="24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OEM tedeschi + distributori di macchine e consumabili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Sapi · Clemco · AGTOS · ROSLER · SLF  …  poi distributori di graniglia e impianti, da approcciare direttamente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Utensilerie e gruppi d'acquisto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Mercato italiano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Distribuzione capillare sul territorio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~100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55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utensilerie servite oggi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6616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10.000 €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fatturato medio / anno per cliente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38912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≈ 1 M€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/ anno dal canale (stima: 100 × 10.000 €)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Sito Cagelli con aspiratori olio e trucio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937760" y="4590288"/>
            <a:ext cx="218541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Image 1" descr="Rubix">
            <a:hlinkClick r:id="rId3" tooltip="Rubix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2" y="4636008"/>
            <a:ext cx="1261872" cy="4114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983480" y="5047488"/>
            <a:ext cx="209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rubix.com/it  ·  </a:t>
            </a:r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IT · FR · ES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242048" y="4590288"/>
            <a:ext cx="218541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Image 2" descr="CD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5913" y="4636008"/>
            <a:ext cx="1077686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0" y="502920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~20.000 € medi per cliente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546336" y="4590288"/>
            <a:ext cx="218541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3" descr="Cagel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1824" y="4636008"/>
            <a:ext cx="1234440" cy="4114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619488" y="502920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OILVAC 130 in private label</a:t>
            </a:r>
            <a:endParaRPr lang="en-US" sz="1100" dirty="0"/>
          </a:p>
        </p:txBody>
      </p:sp>
      <p:sp>
        <p:nvSpPr>
          <p:cNvPr id="26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Gruppi d'acquisto, catene di utensilerie e distributori locali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Copertura territoriale progressiva: i gruppi d'acquisto sono agglomeratori e moltiplicano lo sviluppo. CDU = Consorzio Distribuzione Utensili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Impiantisti e integratori di depolverazione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Hardtest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Ungheria · hardtest.hu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30–40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55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depolveratori acquistati / anno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6616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100.000 €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fatturato 1° anno (dato da ricontrollare)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38912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150.000+ €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fatturato 2° anno (dato da ricontrollare)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Sito Hardtest: Dupuy tra i marchi distribui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7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4590288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COMPRA DA NOI IL DEPOLVERATORE, TUBAZIONI IN LOCO, INSTALLA</a:t>
            </a:r>
            <a:endParaRPr lang="en-US" sz="1100" dirty="0"/>
          </a:p>
        </p:txBody>
      </p:sp>
      <p:pic>
        <p:nvPicPr>
          <p:cNvPr id="19" name="Image 1" descr="Hardtest">
            <a:hlinkClick r:id="rId3" tooltip="Hardtes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4626864"/>
            <a:ext cx="1645920" cy="411480"/>
          </a:xfrm>
          <a:prstGeom prst="rect">
            <a:avLst/>
          </a:prstGeom>
        </p:spPr>
      </p:pic>
      <p:sp>
        <p:nvSpPr>
          <p:cNvPr id="20" name="Text 16">
            <a:hlinkClick r:id="rId4" tooltip=""/>
          </p:cNvPr>
          <p:cNvSpPr txBox="1"/>
          <p:nvPr/>
        </p:nvSpPr>
        <p:spPr>
          <a:xfrm>
            <a:off x="8412480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 hardtest.hu</a:t>
            </a:r>
            <a:endParaRPr lang="en-US" sz="1100" dirty="0"/>
          </a:p>
        </p:txBody>
      </p:sp>
      <p:sp>
        <p:nvSpPr>
          <p:cNvPr id="21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Installatori e piccoli impiantisti indipendenti, città per città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Donaldson · Nederman · Fumex · TEKA · BOFA · ULT · ESTA · Coral · TAMA Air Nova  →  non solo dealer ufficiali: spesso i piccoli impiantisti sono più interessanti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Dealer di marchi concorrenti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COME SI FA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Mappatura dei dealer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 questo vi supportiamo noi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27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20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marchi concorrenti da mappare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867912"/>
            <a:ext cx="384048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3867912"/>
            <a:ext cx="3621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Già oggi i nostri dealer vendono anche i concorrenti: Cagelli → Filtermist, Absolent · Hardtest → Ruwac, Depureco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1371600"/>
            <a:ext cx="3291840" cy="3108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4" name="Image 0" descr="Cagelli → Filtermist · Absol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3236976" cy="26517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937760" y="4050792"/>
            <a:ext cx="3291840" cy="42976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937760" y="405079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Cagelli → Filtermist · Absolent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439912" y="1371600"/>
            <a:ext cx="3291840" cy="3108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Hardtest → Depurec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4" y="1399032"/>
            <a:ext cx="3236976" cy="265176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439912" y="4050792"/>
            <a:ext cx="3291840" cy="42976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439912" y="405079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Hardtest → Depureco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937760" y="4590288"/>
            <a:ext cx="210312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029200" y="4608576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OIL MIST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Filtermist · 3nine · Absolent · Losma · LTA Lufttechnik · AR Filtrazioni · Keller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7178040" y="4590288"/>
            <a:ext cx="260604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69480" y="4608576"/>
            <a:ext cx="2423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DEDUSTING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Donaldson · Nederman · ESTA · TEKA · ULT · BOFA · Fumex · Coral · ULMATEC · Kemper · TBH · Plymovent · Camfil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9921240" y="4590288"/>
            <a:ext cx="181051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12680" y="4608576"/>
            <a:ext cx="1627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ASPIRATORI INDUSTRIALI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Ruwac · Nilfisk · Kärcher Industrial · Depureco · RGS · Sibilia · Wieland</a:t>
            </a:r>
            <a:endParaRPr lang="en-US" sz="1000" dirty="0"/>
          </a:p>
        </p:txBody>
      </p:sp>
      <p:sp>
        <p:nvSpPr>
          <p:cNvPr id="27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Database dei dealer tedeschi dei concorrenti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Dove sono i dealer tedeschi di Filtermist, 3nine, Absolent, Donaldson, Nederman, Ruwac, Nilfisk…? Identificare i più interessanti e proporre la gamma DUPUY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UPU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377440" cy="53650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25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Non inventiamo nuovi canali.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Replichiamo in Germania ciò che funziona già.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3017520"/>
            <a:ext cx="3520440" cy="2788920"/>
          </a:xfrm>
          <a:prstGeom prst="roundRect">
            <a:avLst>
              <a:gd name="adj" fmla="val 3934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108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31089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Chi è il distributore ideale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8862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Il profilo del partner ideale, con esempi reali già attivi</a:t>
            </a:r>
            <a:endParaRPr lang="en-US" sz="1200" dirty="0"/>
          </a:p>
        </p:txBody>
      </p:sp>
      <p:sp>
        <p:nvSpPr>
          <p:cNvPr id="8" name="Spazio esempi"/>
          <p:cNvSpPr/>
          <p:nvPr/>
        </p:nvSpPr>
        <p:spPr>
          <a:xfrm>
            <a:off x="777240" y="4572000"/>
            <a:ext cx="3063240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868680" y="46177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ESEMPI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3017520"/>
            <a:ext cx="3520440" cy="2788920"/>
          </a:xfrm>
          <a:prstGeom prst="roundRect">
            <a:avLst>
              <a:gd name="adj" fmla="val 3934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80560" y="3108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31089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Quanto fatturato può generare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8862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Risultati misurati sui partner già attivi in altri mercati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46634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10.000 – 150.000+ €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046720" y="3017520"/>
            <a:ext cx="3520440" cy="2788920"/>
          </a:xfrm>
          <a:prstGeom prst="roundRect">
            <a:avLst>
              <a:gd name="adj" fmla="val 3934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3108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31089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Come individuarlo in Germania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38862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Attraverso una mappatura mirata dei potenziali partner, canale per canale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6634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6 canali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Prossimo passo: un database di partner per canale, costruito insieme.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DUPUY · Via Enrico de Nicola 27 · 10036 Settimo Torinese (TO) · Tel. +39 011 8975444 · info@dupuy.it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puy">
  <a:themeElements>
    <a:clrScheme name="Dupuy">
      <a:dk1>
        <a:srgbClr val="152239"/>
      </a:dk1>
      <a:lt1>
        <a:srgbClr val="FFFFFF"/>
      </a:lt1>
      <a:dk2>
        <a:srgbClr val="152239"/>
      </a:dk2>
      <a:lt2>
        <a:srgbClr val="F3F5F8"/>
      </a:lt2>
      <a:accent1>
        <a:srgbClr val="E63329"/>
      </a:accent1>
      <a:accent2>
        <a:srgbClr val="152239"/>
      </a:accent2>
      <a:accent3>
        <a:srgbClr val="5B6B85"/>
      </a:accent3>
      <a:accent4>
        <a:srgbClr val="8A97AB"/>
      </a:accent4>
      <a:accent5>
        <a:srgbClr val="D5DBE5"/>
      </a:accent5>
      <a:accent6>
        <a:srgbClr val="1A1A1A"/>
      </a:accent6>
      <a:hlink>
        <a:srgbClr val="E63329"/>
      </a:hlink>
      <a:folHlink>
        <a:srgbClr val="5B6B85"/>
      </a:folHlink>
    </a:clrScheme>
    <a:fontScheme name="Dupuy">
      <a:majorFont>
        <a:latin typeface="Cair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ir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DUPUY – Replicare in Germania i canali che funzionano</dc:title>
  <dc:subject>PptxGenJS Presentation</dc:subject>
  <dc:creator>DUPUY</dc:creator>
  <cp:lastModifiedBy>DUPUY</cp:lastModifiedBy>
  <cp:revision>1</cp:revision>
  <dcterms:created xsi:type="dcterms:W3CDTF">2026-10-30T09:16:43Z</dcterms:created>
  <dcterms:modified xsi:type="dcterms:W3CDTF">2026-10-30T09:16:43Z</dcterms:modified>
</cp:coreProperties>
</file>