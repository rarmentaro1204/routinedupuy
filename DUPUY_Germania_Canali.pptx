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PUY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329184"/>
            <a:ext cx="1600200" cy="3611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DUPUY · Replicare in Germania i canali che funzionano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548640"/>
            <a:ext cx="94183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PUY_DARK">
    <p:bg>
      <p:bgPr>
        <a:solidFill>
          <a:srgbClr val="1522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image" Target="../media/image-1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image" Target="../media/image-2-4.jpg"/><Relationship Id="rId5" Type="http://schemas.openxmlformats.org/officeDocument/2006/relationships/image" Target="../media/image-2-5.jpg"/><Relationship Id="rId6" Type="http://schemas.openxmlformats.org/officeDocument/2006/relationships/image" Target="../media/image-2-6.jp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UPU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651760" cy="59840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920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RETE DISTRIBUTIVA · GERMANIA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240280"/>
            <a:ext cx="6309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Replicare in Germania i canali che funzionano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3434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Best practice, risultati commerciali e metodo di mappatura dei distributori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760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6 canali · 1 metodo</a:t>
            </a:r>
            <a:endParaRPr lang="en-US" sz="1400" dirty="0"/>
          </a:p>
        </p:txBody>
      </p:sp>
      <p:pic>
        <p:nvPicPr>
          <p:cNvPr id="7" name="Image 1" descr="Sabbiatu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48640"/>
            <a:ext cx="2331720" cy="2331720"/>
          </a:xfrm>
          <a:prstGeom prst="rect">
            <a:avLst/>
          </a:prstGeom>
        </p:spPr>
      </p:pic>
      <p:pic>
        <p:nvPicPr>
          <p:cNvPr id="8" name="Image 2" descr="Macchina CNC Okum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548640"/>
            <a:ext cx="2331720" cy="2331720"/>
          </a:xfrm>
          <a:prstGeom prst="rect">
            <a:avLst/>
          </a:prstGeom>
        </p:spPr>
      </p:pic>
      <p:pic>
        <p:nvPicPr>
          <p:cNvPr id="9" name="Image 3" descr="Aspiratore industria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3017520"/>
            <a:ext cx="2331720" cy="233172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9784080" y="3017520"/>
            <a:ext cx="2331720" cy="2331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966960" y="3200400"/>
            <a:ext cx="20116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6</a:t>
            </a:r>
            <a:endParaRPr lang="en-US" sz="8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canali da replicare</a:t>
            </a:r>
            <a:endParaRPr lang="en-US" sz="8000" dirty="0"/>
          </a:p>
        </p:txBody>
      </p:sp>
      <p:sp>
        <p:nvSpPr>
          <p:cNvPr id="12" name="Text 6"/>
          <p:cNvSpPr txBox="1"/>
          <p:nvPr/>
        </p:nvSpPr>
        <p:spPr>
          <a:xfrm>
            <a:off x="7315200" y="57607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Per Vincenzo e Matias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PANORAMICA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4864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Sei canali, un solo metodo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11880" cy="19202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Dealer macchine CN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389888"/>
            <a:ext cx="3575304" cy="1188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481328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1481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65176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Dealer macchine CNC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94436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MTC Flextek · FI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88536" y="1371600"/>
            <a:ext cx="3611880" cy="19202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Dealer olio e lubrorefrigerant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6824" y="1389888"/>
            <a:ext cx="3575304" cy="11887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398264" y="1481328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398264" y="1481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4425696" y="265176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Dealer olio e lubrorefrigeranti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425696" y="294436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Jemtech · UK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19872" y="1371600"/>
            <a:ext cx="3611880" cy="19202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2" descr="Impianti di sabbiatur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389888"/>
            <a:ext cx="3575304" cy="118872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8229600" y="1481328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229600" y="1481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8257032" y="265176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Impianti di sabbiatura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8257032" y="294436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Blasquem · PT  /  AIRBLAST · UK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" y="3447288"/>
            <a:ext cx="3611880" cy="19202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23" name="Image 3" descr="Utensilerie e gruppi d'acquist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465576"/>
            <a:ext cx="3575304" cy="118872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566928" y="3557016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566928" y="35570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594360" y="4727448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Utensilerie e gruppi d'acquisto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594360" y="502005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Rubix · CDU · Cagelli · IT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288536" y="3447288"/>
            <a:ext cx="3611880" cy="19202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29" name="Image 4" descr="Impiantisti e integratori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6824" y="3465576"/>
            <a:ext cx="3575304" cy="118872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4398264" y="3557016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4398264" y="35570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32" name="Text 25"/>
          <p:cNvSpPr txBox="1"/>
          <p:nvPr/>
        </p:nvSpPr>
        <p:spPr>
          <a:xfrm>
            <a:off x="4425696" y="4727448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Impiantisti e integratori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4425696" y="502005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Hardtest · HU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8119872" y="3447288"/>
            <a:ext cx="3611880" cy="19202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35" name="Image 5" descr="Dealer di marchi concorrenti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3465576"/>
            <a:ext cx="3575304" cy="1188720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8229600" y="3557016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8229600" y="35570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38" name="Text 30"/>
          <p:cNvSpPr txBox="1"/>
          <p:nvPr/>
        </p:nvSpPr>
        <p:spPr>
          <a:xfrm>
            <a:off x="8257032" y="4727448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Dealer di marchi concorrenti</a:t>
            </a:r>
            <a:endParaRPr lang="en-US" sz="1500" dirty="0"/>
          </a:p>
        </p:txBody>
      </p:sp>
      <p:sp>
        <p:nvSpPr>
          <p:cNvPr id="39" name="Text 31"/>
          <p:cNvSpPr txBox="1"/>
          <p:nvPr/>
        </p:nvSpPr>
        <p:spPr>
          <a:xfrm>
            <a:off x="8257032" y="502005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Mappatura in Germania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457200" y="5577840"/>
            <a:ext cx="11274552" cy="804672"/>
          </a:xfrm>
          <a:prstGeom prst="roundRect">
            <a:avLst>
              <a:gd name="adj" fmla="val 1136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1" name="Text 33"/>
          <p:cNvSpPr txBox="1"/>
          <p:nvPr/>
        </p:nvSpPr>
        <p:spPr>
          <a:xfrm>
            <a:off x="685800" y="557784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</a:t>
            </a:r>
            <a:endParaRPr lang="en-US" sz="3600" dirty="0"/>
          </a:p>
        </p:txBody>
      </p:sp>
      <p:sp>
        <p:nvSpPr>
          <p:cNvPr id="42" name="Text 34"/>
          <p:cNvSpPr txBox="1"/>
          <p:nvPr/>
        </p:nvSpPr>
        <p:spPr>
          <a:xfrm>
            <a:off x="1188720" y="5577840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CHI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il distributore ideale, con esempi reali</a:t>
            </a:r>
            <a:endParaRPr lang="en-US" sz="1400" dirty="0"/>
          </a:p>
        </p:txBody>
      </p:sp>
      <p:sp>
        <p:nvSpPr>
          <p:cNvPr id="43" name="Text 35"/>
          <p:cNvSpPr txBox="1"/>
          <p:nvPr/>
        </p:nvSpPr>
        <p:spPr>
          <a:xfrm>
            <a:off x="4434840" y="557784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2</a:t>
            </a:r>
            <a:endParaRPr lang="en-US" sz="3600" dirty="0"/>
          </a:p>
        </p:txBody>
      </p:sp>
      <p:sp>
        <p:nvSpPr>
          <p:cNvPr id="44" name="Text 36"/>
          <p:cNvSpPr txBox="1"/>
          <p:nvPr/>
        </p:nvSpPr>
        <p:spPr>
          <a:xfrm>
            <a:off x="4937760" y="5577840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QUANTO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fatturato può generare</a:t>
            </a:r>
            <a:endParaRPr lang="en-US" sz="1400" dirty="0"/>
          </a:p>
        </p:txBody>
      </p:sp>
      <p:sp>
        <p:nvSpPr>
          <p:cNvPr id="45" name="Text 37"/>
          <p:cNvSpPr txBox="1"/>
          <p:nvPr/>
        </p:nvSpPr>
        <p:spPr>
          <a:xfrm>
            <a:off x="8183880" y="557784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3</a:t>
            </a:r>
            <a:endParaRPr lang="en-US" sz="3600" dirty="0"/>
          </a:p>
        </p:txBody>
      </p:sp>
      <p:sp>
        <p:nvSpPr>
          <p:cNvPr id="46" name="Text 38"/>
          <p:cNvSpPr txBox="1"/>
          <p:nvPr/>
        </p:nvSpPr>
        <p:spPr>
          <a:xfrm>
            <a:off x="8686800" y="5577840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DOVE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trovarlo in Germania: mappatura mirata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CANALE 1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4864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Dealer di macchine CNC</a:t>
            </a:r>
            <a:endParaRPr lang="en-US" sz="2800" dirty="0"/>
          </a:p>
        </p:txBody>
      </p:sp>
      <p:sp>
        <p:nvSpPr>
          <p:cNvPr id="4" name="Pannello risultati"/>
          <p:cNvSpPr/>
          <p:nvPr/>
        </p:nvSpPr>
        <p:spPr>
          <a:xfrm>
            <a:off x="457200" y="1371600"/>
            <a:ext cx="4297680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BEST PRACTICE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190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MTC Flextek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21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Finlandia · mtcflextek.fi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4871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RISULTATI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7432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20–25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520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unità/anno di OILVAC 130 PUMP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4069080"/>
            <a:ext cx="384048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0690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Parte da OILVAC 130 PUMP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4434840"/>
            <a:ext cx="182880" cy="146304"/>
          </a:xfrm>
          <a:prstGeom prst="down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4599432"/>
            <a:ext cx="384048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5994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Poi tutte le altre gamme DUPUY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1371600"/>
            <a:ext cx="6793992" cy="310896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0" descr="Sito MTC Flexte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5192" y="1399032"/>
            <a:ext cx="6739128" cy="3054096"/>
          </a:xfrm>
          <a:prstGeom prst="rect">
            <a:avLst/>
          </a:prstGeom>
        </p:spPr>
      </p:pic>
      <p:sp>
        <p:nvSpPr>
          <p:cNvPr id="18" name="Riga loghi"/>
          <p:cNvSpPr/>
          <p:nvPr/>
        </p:nvSpPr>
        <p:spPr>
          <a:xfrm>
            <a:off x="4937760" y="4590288"/>
            <a:ext cx="6793992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120640" y="4590288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BRAND RAPPRESENTATI</a:t>
            </a:r>
            <a:endParaRPr lang="en-US" sz="1000" dirty="0"/>
          </a:p>
        </p:txBody>
      </p:sp>
      <p:pic>
        <p:nvPicPr>
          <p:cNvPr id="20" name="Image 1" descr="okum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264" y="4869591"/>
            <a:ext cx="1069848" cy="246065"/>
          </a:xfrm>
          <a:prstGeom prst="rect">
            <a:avLst/>
          </a:prstGeom>
        </p:spPr>
      </p:pic>
      <p:pic>
        <p:nvPicPr>
          <p:cNvPr id="21" name="Image 2" descr="fanuc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2" y="4904362"/>
            <a:ext cx="1069848" cy="176525"/>
          </a:xfrm>
          <a:prstGeom prst="rect">
            <a:avLst/>
          </a:prstGeom>
        </p:spPr>
      </p:pic>
      <p:pic>
        <p:nvPicPr>
          <p:cNvPr id="22" name="Image 3" descr="soraluc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4907036"/>
            <a:ext cx="1069848" cy="171176"/>
          </a:xfrm>
          <a:prstGeom prst="rect">
            <a:avLst/>
          </a:prstGeom>
        </p:spPr>
      </p:pic>
      <p:pic>
        <p:nvPicPr>
          <p:cNvPr id="23" name="Image 4" descr="ibarmi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2448" y="4899012"/>
            <a:ext cx="1069848" cy="187223"/>
          </a:xfrm>
          <a:prstGeom prst="rect">
            <a:avLst/>
          </a:prstGeom>
        </p:spPr>
      </p:pic>
      <p:sp>
        <p:nvSpPr>
          <p:cNvPr id="24" name="Banda Germania"/>
          <p:cNvSpPr/>
          <p:nvPr/>
        </p:nvSpPr>
        <p:spPr>
          <a:xfrm>
            <a:off x="457200" y="5577840"/>
            <a:ext cx="11274552" cy="804672"/>
          </a:xfrm>
          <a:prstGeom prst="roundRect">
            <a:avLst>
              <a:gd name="adj" fmla="val 1136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685800" y="56692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DOVE TROVARLI IN GERMANIA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685800" y="58704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Database dealer dei costruttori CNC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4480560" y="5577840"/>
            <a:ext cx="7040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DMG MORI · Mazak · TRUMPF · EMCO · Hermle · CHIRON · GROB · INDEX · GF Machining Solutions · Mikron · Fehlmann  (lista costruttori: catalogo espositori EMO Hannover)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CANALE 2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4864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Dealer di olio e lubrorefrigeranti</a:t>
            </a:r>
            <a:endParaRPr lang="en-US" sz="2800" dirty="0"/>
          </a:p>
        </p:txBody>
      </p:sp>
      <p:sp>
        <p:nvSpPr>
          <p:cNvPr id="4" name="Pannello risultati"/>
          <p:cNvSpPr/>
          <p:nvPr/>
        </p:nvSpPr>
        <p:spPr>
          <a:xfrm>
            <a:off x="457200" y="1371600"/>
            <a:ext cx="4297680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BEST PRACTICE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190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Jemtech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21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Regno Unito · jemtech.co.uk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4871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RISULTATI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743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PRIVATE LABEL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291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Macchine DUPUY a marchio Jemtech, in blu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3803904"/>
            <a:ext cx="384048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8039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Prima macchina per il service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4169664"/>
            <a:ext cx="182880" cy="146304"/>
          </a:xfrm>
          <a:prstGeom prst="down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4334256"/>
            <a:ext cx="384048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3342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Vendite ricorrenti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14600" y="4700016"/>
            <a:ext cx="182880" cy="146304"/>
          </a:xfrm>
          <a:prstGeom prst="down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4864608"/>
            <a:ext cx="384048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8646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Altre gamme DUPUY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37760" y="1371600"/>
            <a:ext cx="6793992" cy="310896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20" name="Image 0" descr="Sito Jemtech con aspiratore DUPUY private lab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5192" y="1399032"/>
            <a:ext cx="6739128" cy="3054096"/>
          </a:xfrm>
          <a:prstGeom prst="rect">
            <a:avLst/>
          </a:prstGeom>
        </p:spPr>
      </p:pic>
      <p:sp>
        <p:nvSpPr>
          <p:cNvPr id="21" name="Riga loghi"/>
          <p:cNvSpPr/>
          <p:nvPr/>
        </p:nvSpPr>
        <p:spPr>
          <a:xfrm>
            <a:off x="4937760" y="4590288"/>
            <a:ext cx="6793992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2" name="Image 1" descr="Linee prodotto Jemte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4636008"/>
            <a:ext cx="3456432" cy="71323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641080" y="4590288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Chi vende olio vende anche l'aspiratore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Partner Blaser Swisslube · HFiltration</a:t>
            </a:r>
            <a:endParaRPr lang="en-US" sz="1300" dirty="0"/>
          </a:p>
        </p:txBody>
      </p:sp>
      <p:sp>
        <p:nvSpPr>
          <p:cNvPr id="24" name="Banda Germania"/>
          <p:cNvSpPr/>
          <p:nvPr/>
        </p:nvSpPr>
        <p:spPr>
          <a:xfrm>
            <a:off x="457200" y="5577840"/>
            <a:ext cx="11274552" cy="804672"/>
          </a:xfrm>
          <a:prstGeom prst="roundRect">
            <a:avLst>
              <a:gd name="adj" fmla="val 1136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85800" y="56692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DOVE TROVARLI IN GERMANIA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" y="58704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Distributori dei produttori di lubrorefrigeranti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4480560" y="5577840"/>
            <a:ext cx="7040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Blaser Swisslube · Castrol · Motul · TotalEnergies · FUCHS · Quaker Houghton · Oemeta · Rhenus Lub · Zeller+Gmelin · Klüber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CANALE 3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4864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Impianti di sabbiatura: OEM e dealer</a:t>
            </a:r>
            <a:endParaRPr lang="en-US" sz="2800" dirty="0"/>
          </a:p>
        </p:txBody>
      </p:sp>
      <p:sp>
        <p:nvSpPr>
          <p:cNvPr id="4" name="Pannello risultati"/>
          <p:cNvSpPr/>
          <p:nvPr/>
        </p:nvSpPr>
        <p:spPr>
          <a:xfrm>
            <a:off x="457200" y="1371600"/>
            <a:ext cx="4297680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BEST PRACTICE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190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Blasquem · AIRBLAST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21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Portogallo · Regno Unito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4871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RISULTATI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74320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6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25526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OEM già serviti: OMSG, COGEIM, Turbotecnica, Norblast, STEM, Protech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76732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+1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279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OEM tedesco già attivo (testate 2 motori)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4590288"/>
            <a:ext cx="384048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4590288"/>
            <a:ext cx="3621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M50 Cogeim · MHD AIR 30 · SILOFILTER: soluzioni assenti nella gamma DELFIN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0" y="1371600"/>
            <a:ext cx="6793992" cy="3108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0" descr="Applicazioni sabbiatu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5192" y="1399032"/>
            <a:ext cx="2203704" cy="3054096"/>
          </a:xfrm>
          <a:prstGeom prst="rect">
            <a:avLst/>
          </a:prstGeom>
        </p:spPr>
      </p:pic>
      <p:pic>
        <p:nvPicPr>
          <p:cNvPr id="17" name="Image 1" descr="Applicazioni sabbiatu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048" y="1399032"/>
            <a:ext cx="2203704" cy="3054096"/>
          </a:xfrm>
          <a:prstGeom prst="rect">
            <a:avLst/>
          </a:prstGeom>
        </p:spPr>
      </p:pic>
      <p:pic>
        <p:nvPicPr>
          <p:cNvPr id="18" name="Image 2" descr="Applicazioni sabbiatur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8904" y="1399032"/>
            <a:ext cx="2185416" cy="3054096"/>
          </a:xfrm>
          <a:prstGeom prst="rect">
            <a:avLst/>
          </a:prstGeom>
        </p:spPr>
      </p:pic>
      <p:sp>
        <p:nvSpPr>
          <p:cNvPr id="19" name="Riga loghi"/>
          <p:cNvSpPr/>
          <p:nvPr/>
        </p:nvSpPr>
        <p:spPr>
          <a:xfrm>
            <a:off x="4937760" y="4590288"/>
            <a:ext cx="6793992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0" name="Image 3" descr="AIRBLAS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4722524"/>
            <a:ext cx="1645920" cy="540199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949440" y="4590288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airblast.co.uk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macchine portatili, recupero abrasivo, noleggio</a:t>
            </a:r>
            <a:endParaRPr lang="en-US" sz="1200" dirty="0"/>
          </a:p>
        </p:txBody>
      </p:sp>
      <p:sp>
        <p:nvSpPr>
          <p:cNvPr id="22" name="Banda Germania"/>
          <p:cNvSpPr/>
          <p:nvPr/>
        </p:nvSpPr>
        <p:spPr>
          <a:xfrm>
            <a:off x="457200" y="5577840"/>
            <a:ext cx="11274552" cy="804672"/>
          </a:xfrm>
          <a:prstGeom prst="roundRect">
            <a:avLst>
              <a:gd name="adj" fmla="val 1136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685800" y="56692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DOVE TROVARLI IN GERMANIA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685800" y="58704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OEM tedeschi + distributori di macchine e consumabili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4480560" y="5577840"/>
            <a:ext cx="7040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Sapi · Clemco · AGTOS · ROSLER · SLF  …  poi distributori di graniglia e impianti, da approcciare direttamente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CANALE 4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4864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Utensilerie e gruppi d'acquisto</a:t>
            </a:r>
            <a:endParaRPr lang="en-US" sz="2800" dirty="0"/>
          </a:p>
        </p:txBody>
      </p:sp>
      <p:sp>
        <p:nvSpPr>
          <p:cNvPr id="4" name="Pannello risultati"/>
          <p:cNvSpPr/>
          <p:nvPr/>
        </p:nvSpPr>
        <p:spPr>
          <a:xfrm>
            <a:off x="457200" y="1371600"/>
            <a:ext cx="4297680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BEST PRACTICE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190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Mercato italiano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21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Distribuzione capillare sul territorio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4871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RISULTATI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74320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~100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2552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utensilerie servite oggi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56616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10.000 €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0782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fatturato medio / anno per cliente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38912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≈ 1 M€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9011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/ anno dal canale (stima: 100 × 10.000 €)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0" y="1371600"/>
            <a:ext cx="6793992" cy="310896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0" descr="Sito Cagelli con aspiratori olio e truciol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5192" y="1399032"/>
            <a:ext cx="6739128" cy="3054096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4937760" y="4590288"/>
            <a:ext cx="2185416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8" name="Image 1" descr="Rubix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4208" y="4645152"/>
            <a:ext cx="1121664" cy="36576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010912" y="5029200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Italia · Francia · Spagna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7242048" y="4590288"/>
            <a:ext cx="2185416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333488" y="4626864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CDU</a:t>
            </a:r>
            <a:endParaRPr lang="en-US" sz="2000" dirty="0"/>
          </a:p>
        </p:txBody>
      </p:sp>
      <p:sp>
        <p:nvSpPr>
          <p:cNvPr id="22" name="Text 18"/>
          <p:cNvSpPr txBox="1"/>
          <p:nvPr/>
        </p:nvSpPr>
        <p:spPr>
          <a:xfrm>
            <a:off x="7315200" y="5029200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~20.000 € medi per cliente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546336" y="4590288"/>
            <a:ext cx="2185416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4" name="Image 2" descr="Cagell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4645152"/>
            <a:ext cx="1097280" cy="36576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9619488" y="5029200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OILVAC 130 in private label</a:t>
            </a:r>
            <a:endParaRPr lang="en-US" sz="1100" dirty="0"/>
          </a:p>
        </p:txBody>
      </p:sp>
      <p:sp>
        <p:nvSpPr>
          <p:cNvPr id="26" name="Banda Germania"/>
          <p:cNvSpPr/>
          <p:nvPr/>
        </p:nvSpPr>
        <p:spPr>
          <a:xfrm>
            <a:off x="457200" y="5577840"/>
            <a:ext cx="11274552" cy="804672"/>
          </a:xfrm>
          <a:prstGeom prst="roundRect">
            <a:avLst>
              <a:gd name="adj" fmla="val 1136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85800" y="56692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DOVE TROVARLI IN GERMANIA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685800" y="58704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Gruppi d'acquisto, catene di utensilerie e distributori locali</a:t>
            </a:r>
            <a:endParaRPr lang="en-US" sz="1300" dirty="0"/>
          </a:p>
        </p:txBody>
      </p:sp>
      <p:sp>
        <p:nvSpPr>
          <p:cNvPr id="29" name="Text 24"/>
          <p:cNvSpPr txBox="1"/>
          <p:nvPr/>
        </p:nvSpPr>
        <p:spPr>
          <a:xfrm>
            <a:off x="4480560" y="5577840"/>
            <a:ext cx="7040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Copertura territoriale progressiva: i gruppi d'acquisto sono agglomeratori e moltiplicano lo sviluppo. CDU = Consorzio Distribuzione Utensili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CANALE 5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4864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Impiantisti e integratori di depolverazione</a:t>
            </a:r>
            <a:endParaRPr lang="en-US" sz="2800" dirty="0"/>
          </a:p>
        </p:txBody>
      </p:sp>
      <p:sp>
        <p:nvSpPr>
          <p:cNvPr id="4" name="Pannello risultati"/>
          <p:cNvSpPr/>
          <p:nvPr/>
        </p:nvSpPr>
        <p:spPr>
          <a:xfrm>
            <a:off x="457200" y="1371600"/>
            <a:ext cx="4297680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BEST PRACTICE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190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Hardtest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21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Ungheria · hardtest.hu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4871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RISULTATI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74320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30–40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2552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depolveratori acquistati / anno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56616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100.000 €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0782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fatturato 1° anno (dato da ricontrollare)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38912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150.000+ €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9011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fatturato 2° anno (dato da ricontrollare)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0" y="1371600"/>
            <a:ext cx="6793992" cy="310896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0" descr="Sito Hardte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5192" y="1399032"/>
            <a:ext cx="6739128" cy="3054096"/>
          </a:xfrm>
          <a:prstGeom prst="rect">
            <a:avLst/>
          </a:prstGeom>
        </p:spPr>
      </p:pic>
      <p:sp>
        <p:nvSpPr>
          <p:cNvPr id="17" name="Riga loghi"/>
          <p:cNvSpPr/>
          <p:nvPr/>
        </p:nvSpPr>
        <p:spPr>
          <a:xfrm>
            <a:off x="4937760" y="4590288"/>
            <a:ext cx="6793992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120640" y="4590288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COMPRA DA NOI IL DEPOLVERATORE, TUBAZIONI IN LOCO, INSTALLA</a:t>
            </a:r>
            <a:endParaRPr lang="en-US" sz="1100" dirty="0"/>
          </a:p>
        </p:txBody>
      </p:sp>
      <p:pic>
        <p:nvPicPr>
          <p:cNvPr id="19" name="Image 1" descr="hardte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52" y="4874895"/>
            <a:ext cx="941832" cy="235458"/>
          </a:xfrm>
          <a:prstGeom prst="rect">
            <a:avLst/>
          </a:prstGeom>
        </p:spPr>
      </p:pic>
      <p:pic>
        <p:nvPicPr>
          <p:cNvPr id="20" name="Image 2" descr="ruwac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9384" y="4645152"/>
            <a:ext cx="926592" cy="694944"/>
          </a:xfrm>
          <a:prstGeom prst="rect">
            <a:avLst/>
          </a:prstGeom>
        </p:spPr>
      </p:pic>
      <p:pic>
        <p:nvPicPr>
          <p:cNvPr id="21" name="Image 3" descr="depurec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4096" y="4645152"/>
            <a:ext cx="926592" cy="694944"/>
          </a:xfrm>
          <a:prstGeom prst="rect">
            <a:avLst/>
          </a:prstGeom>
        </p:spPr>
      </p:pic>
      <p:sp>
        <p:nvSpPr>
          <p:cNvPr id="22" name="Banda Germania"/>
          <p:cNvSpPr/>
          <p:nvPr/>
        </p:nvSpPr>
        <p:spPr>
          <a:xfrm>
            <a:off x="457200" y="5577840"/>
            <a:ext cx="11274552" cy="804672"/>
          </a:xfrm>
          <a:prstGeom prst="roundRect">
            <a:avLst>
              <a:gd name="adj" fmla="val 1136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685800" y="56692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DOVE TROVARLI IN GERMANIA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685800" y="58704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Installatori e piccoli impiantisti indipendenti, città per città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4480560" y="5577840"/>
            <a:ext cx="7040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Donaldson · Nederman · Fumex · TEKA · BOFA · ULT · ESTA · Coral · TAMA Air Nova  →  non solo dealer ufficiali: spesso i piccoli impiantisti sono più interessanti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CANALE 6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4864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Dealer di marchi concorrenti</a:t>
            </a:r>
            <a:endParaRPr lang="en-US" sz="2800" dirty="0"/>
          </a:p>
        </p:txBody>
      </p:sp>
      <p:sp>
        <p:nvSpPr>
          <p:cNvPr id="4" name="Pannello risultati"/>
          <p:cNvSpPr/>
          <p:nvPr/>
        </p:nvSpPr>
        <p:spPr>
          <a:xfrm>
            <a:off x="457200" y="1371600"/>
            <a:ext cx="4297680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COME SI FA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190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Mappatura dei dealer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21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Su questo vi supportiamo noi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4871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RISULTATI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7432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27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520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marchi concorrenti da mappare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3867912"/>
            <a:ext cx="384048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5528" y="3867912"/>
            <a:ext cx="3621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Già oggi i nostri dealer vendono anche i concorrenti: Cagelli → Filtermist, Absolent · Hardtest → Ruwac, Depureco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1371600"/>
            <a:ext cx="6793992" cy="310896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4" name="Image 0" descr="Cagelli rivende Absolent e Filtermi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5192" y="1399032"/>
            <a:ext cx="6739128" cy="305409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937760" y="4590288"/>
            <a:ext cx="2103120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0" y="4608576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OIL MIST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Filtermist · 3nine · Absolent · Losma · LTA Lufttechnik · AR Filtrazioni · Keller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178040" y="4590288"/>
            <a:ext cx="2606040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269480" y="4608576"/>
            <a:ext cx="2423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DEDUSTING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Donaldson · Nederman · ESTA · TEKA · ULT · BOFA · Fumex · Coral · ULMATEC · Kemper · TBH · Plymovent · Camfil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921240" y="4590288"/>
            <a:ext cx="1810512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012680" y="4608576"/>
            <a:ext cx="1627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ASPIRATORI INDUSTRIALI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Ruwac · Nilfisk · Kärcher Industrial · Depureco · RGS · Sibilia · Wieland</a:t>
            </a:r>
            <a:endParaRPr lang="en-US" sz="1000" dirty="0"/>
          </a:p>
        </p:txBody>
      </p:sp>
      <p:sp>
        <p:nvSpPr>
          <p:cNvPr id="21" name="Banda Germania"/>
          <p:cNvSpPr/>
          <p:nvPr/>
        </p:nvSpPr>
        <p:spPr>
          <a:xfrm>
            <a:off x="457200" y="5577840"/>
            <a:ext cx="11274552" cy="804672"/>
          </a:xfrm>
          <a:prstGeom prst="roundRect">
            <a:avLst>
              <a:gd name="adj" fmla="val 1136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5800" y="56692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DOVE TROVARLI IN GERMANIA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85800" y="58704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Database dei dealer tedeschi dei concorrenti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4480560" y="5577840"/>
            <a:ext cx="7040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Dove sono i dealer tedeschi di Filtermist, 3nine, Absolent, Donaldson, Nederman, Ruwac, Nilfisk…? Identificare i più interessanti e proporre la gamma DUPUY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UPU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651760" cy="59840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554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Non inventiamo nuovi canali.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3774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Replichiamo in Germania ciò che funziona già.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48640" y="3611880"/>
            <a:ext cx="3520440" cy="1463040"/>
          </a:xfrm>
          <a:prstGeom prst="roundRect">
            <a:avLst>
              <a:gd name="adj" fmla="val 7500"/>
            </a:avLst>
          </a:prstGeom>
          <a:solidFill>
            <a:schemeClr val="tx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3703320"/>
            <a:ext cx="731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1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37033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CHI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Il distributore ideale: esempi reali già attivi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297680" y="3611880"/>
            <a:ext cx="3520440" cy="1463040"/>
          </a:xfrm>
          <a:prstGeom prst="roundRect">
            <a:avLst>
              <a:gd name="adj" fmla="val 7500"/>
            </a:avLst>
          </a:prstGeom>
          <a:solidFill>
            <a:schemeClr val="tx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26280" y="3703320"/>
            <a:ext cx="731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2</a:t>
            </a:r>
            <a:endParaRPr lang="en-US" sz="6000" dirty="0"/>
          </a:p>
        </p:txBody>
      </p:sp>
      <p:sp>
        <p:nvSpPr>
          <p:cNvPr id="10" name="Text 7"/>
          <p:cNvSpPr txBox="1"/>
          <p:nvPr/>
        </p:nvSpPr>
        <p:spPr>
          <a:xfrm>
            <a:off x="5303520" y="37033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QUANTO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Fatturato misurato in altri mercati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046720" y="3611880"/>
            <a:ext cx="3520440" cy="1463040"/>
          </a:xfrm>
          <a:prstGeom prst="roundRect">
            <a:avLst>
              <a:gd name="adj" fmla="val 7500"/>
            </a:avLst>
          </a:prstGeom>
          <a:solidFill>
            <a:schemeClr val="tx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75320" y="3703320"/>
            <a:ext cx="731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3</a:t>
            </a:r>
            <a:endParaRPr lang="en-US" sz="6000" dirty="0"/>
          </a:p>
        </p:txBody>
      </p:sp>
      <p:sp>
        <p:nvSpPr>
          <p:cNvPr id="13" name="Text 10"/>
          <p:cNvSpPr txBox="1"/>
          <p:nvPr/>
        </p:nvSpPr>
        <p:spPr>
          <a:xfrm>
            <a:off x="9052560" y="37033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DOVE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Mappatura mirata, canale per canale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4406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Prossimo passo: un database di partner per canale, costruito insieme.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DUPUY · Via Enrico de Nicola 27 · 10036 Settimo Torinese (TO) · Tel. +39 011 8975444 · info@dupuy.it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upuy">
  <a:themeElements>
    <a:clrScheme name="Dupuy">
      <a:dk1>
        <a:srgbClr val="152239"/>
      </a:dk1>
      <a:lt1>
        <a:srgbClr val="FFFFFF"/>
      </a:lt1>
      <a:dk2>
        <a:srgbClr val="152239"/>
      </a:dk2>
      <a:lt2>
        <a:srgbClr val="F3F5F8"/>
      </a:lt2>
      <a:accent1>
        <a:srgbClr val="E63329"/>
      </a:accent1>
      <a:accent2>
        <a:srgbClr val="152239"/>
      </a:accent2>
      <a:accent3>
        <a:srgbClr val="5B6B85"/>
      </a:accent3>
      <a:accent4>
        <a:srgbClr val="8A97AB"/>
      </a:accent4>
      <a:accent5>
        <a:srgbClr val="D5DBE5"/>
      </a:accent5>
      <a:accent6>
        <a:srgbClr val="1A1A1A"/>
      </a:accent6>
      <a:hlink>
        <a:srgbClr val="E63329"/>
      </a:hlink>
      <a:folHlink>
        <a:srgbClr val="5B6B85"/>
      </a:folHlink>
    </a:clrScheme>
    <a:fontScheme name="Dupuy">
      <a:majorFont>
        <a:latin typeface="Cair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ir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DUPUY – Replicare in Germania i canali che funzionano</dc:title>
  <dc:subject>PptxGenJS Presentation</dc:subject>
  <dc:creator>DUPUY</dc:creator>
  <cp:lastModifiedBy>DUPUY</cp:lastModifiedBy>
  <cp:revision>1</cp:revision>
  <dcterms:created xsi:type="dcterms:W3CDTF">2026-10-30T07:22:20Z</dcterms:created>
  <dcterms:modified xsi:type="dcterms:W3CDTF">2026-10-30T07:22:20Z</dcterms:modified>
</cp:coreProperties>
</file>